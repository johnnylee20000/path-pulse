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con-5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6360" y="777240"/>
            <a:ext cx="1828800" cy="1828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2743200"/>
            <a:ext cx="106984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000" b="1">
                <a:solidFill>
                  <a:srgbClr val="00F5FF"/>
                </a:solidFill>
                <a:latin typeface="Segoe UI"/>
              </a:defRPr>
            </a:pPr>
            <a:r>
              <a:t>TACTICAL BIO-LAB</a:t>
            </a:r>
          </a:p>
          <a:p>
            <a:pPr algn="ctr">
              <a:spcAft>
                <a:spcPts val="1000"/>
              </a:spcAft>
              <a:defRPr sz="4400" b="1">
                <a:solidFill>
                  <a:srgbClr val="FFFFFF"/>
                </a:solidFill>
                <a:latin typeface="Segoe UI"/>
              </a:defRPr>
            </a:pPr>
            <a:r>
              <a:t>PATH-PULSE</a:t>
            </a:r>
          </a:p>
          <a:p>
            <a:pPr algn="ctr">
              <a:lnSpc>
                <a:spcPct val="130000"/>
              </a:lnSpc>
              <a:defRPr sz="1500" b="0">
                <a:solidFill>
                  <a:srgbClr val="9CA3AF"/>
                </a:solidFill>
                <a:latin typeface="Segoe UI"/>
              </a:defRPr>
            </a:pPr>
            <a:r>
              <a:t>Turn every walk into a mission. GPS routes, metabolic diagnostics, fuel tracking, and Ghost-Path racing—in your browser, Obsidian Lab aesthetic.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CA3AF"/>
                </a:solidFill>
              </a:defRPr>
            </a:pPr>
            <a:r>
              <a:t>1 / 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00F5FF"/>
                </a:solidFill>
                <a:latin typeface="Segoe UI"/>
              </a:defRPr>
            </a:pPr>
            <a:r>
              <a:t>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686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What is Path-Pulse?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828800"/>
            <a:ext cx="53949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1000" b="1">
                <a:solidFill>
                  <a:srgbClr val="39FF14"/>
                </a:solidFill>
                <a:latin typeface="Segoe UI"/>
              </a:defRPr>
            </a:pPr>
            <a:r>
              <a:t>THE PRODUCT</a:t>
            </a:r>
          </a:p>
          <a:p>
            <a:pPr algn="ctr">
              <a:lnSpc>
                <a:spcPct val="125000"/>
              </a:lnSpc>
              <a:defRPr sz="1400" b="0">
                <a:solidFill>
                  <a:srgbClr val="FFFFFF"/>
                </a:solidFill>
                <a:latin typeface="Segoe UI"/>
              </a:defRPr>
            </a:pPr>
            <a:r>
              <a:t>A progressive web app that treats movement like tactical data: map expeditions, log fuel &amp; steps, track BMI and weekly missions—without an app store install.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99632" y="1828800"/>
            <a:ext cx="53949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1000" b="1">
                <a:solidFill>
                  <a:srgbClr val="39FF14"/>
                </a:solidFill>
                <a:latin typeface="Segoe UI"/>
              </a:defRPr>
            </a:pPr>
            <a:r>
              <a:t>THE EXPERIENCE</a:t>
            </a:r>
          </a:p>
          <a:p>
            <a:pPr algn="ctr">
              <a:lnSpc>
                <a:spcPct val="125000"/>
              </a:lnSpc>
              <a:defRPr sz="1400" b="0">
                <a:solidFill>
                  <a:srgbClr val="FFFFFF"/>
                </a:solidFill>
                <a:latin typeface="Segoe UI"/>
              </a:defRPr>
            </a:pPr>
            <a:r>
              <a:t>Explorer's Oath → PRISM welcome → Home, Map, Report, Profile. Neon cyan &amp; lime on obsidian—built for clarity and shareable lab vibes.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0080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CA3AF"/>
                </a:solidFill>
              </a:defRPr>
            </a:pPr>
            <a:r>
              <a:t>2 / 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F5FF"/>
                </a:solidFill>
                <a:latin typeface="Segoe UI"/>
              </a:defRPr>
            </a:pPr>
            <a:r>
              <a:t>FEATURES (1/2)</a:t>
            </a:r>
          </a:p>
          <a:p>
            <a:pPr algn="l">
              <a:spcAft>
                <a:spcPts val="1200"/>
              </a:spcAft>
              <a:defRPr sz="3000" b="1">
                <a:solidFill>
                  <a:srgbClr val="FFFFFF"/>
                </a:solidFill>
                <a:latin typeface="Segoe UI"/>
              </a:defRPr>
            </a:pPr>
            <a:r>
              <a:t>Core capabilities</a:t>
            </a:r>
          </a:p>
          <a:p>
            <a:pPr algn="l">
              <a:lnSpc>
                <a:spcPct val="120000"/>
              </a:lnSpc>
              <a:spcAft>
                <a:spcPts val="800"/>
              </a:spcAft>
              <a:defRPr sz="1400" b="0">
                <a:solidFill>
                  <a:srgbClr val="FFFFFF"/>
                </a:solidFill>
                <a:latin typeface="Segoe UI"/>
              </a:defRPr>
            </a:pPr>
            <a:r>
              <a:t>◆  Map &amp; expedition: Live GPS route, distance HUD, route replay &amp; Ghost-Path.</a:t>
            </a:r>
          </a:p>
          <a:p>
            <a:pPr algn="l">
              <a:lnSpc>
                <a:spcPct val="120000"/>
              </a:lnSpc>
              <a:spcAft>
                <a:spcPts val="800"/>
              </a:spcAft>
              <a:defRPr sz="1400" b="0">
                <a:solidFill>
                  <a:srgbClr val="FFFFFF"/>
                </a:solidFill>
                <a:latin typeface="Segoe UI"/>
              </a:defRPr>
            </a:pPr>
            <a:r>
              <a:t>◆  Home &amp; missions: Kinetic step ring, weekly mission, explorer level &amp; rank.</a:t>
            </a:r>
          </a:p>
          <a:p>
            <a:pPr algn="l">
              <a:lnSpc>
                <a:spcPct val="120000"/>
              </a:lnSpc>
              <a:spcAft>
                <a:spcPts val="800"/>
              </a:spcAft>
              <a:defRPr sz="1400" b="0">
                <a:solidFill>
                  <a:srgbClr val="FFFFFF"/>
                </a:solidFill>
                <a:latin typeface="Segoe UI"/>
              </a:defRPr>
            </a:pPr>
            <a:r>
              <a:t>◆  PRISM: Onboard welcome after the Oath; optional TTS and haptics.</a:t>
            </a:r>
          </a:p>
          <a:p>
            <a:pPr algn="l">
              <a:lnSpc>
                <a:spcPct val="120000"/>
              </a:lnSpc>
              <a:spcAft>
                <a:spcPts val="800"/>
              </a:spcAft>
              <a:defRPr sz="1400" b="0">
                <a:solidFill>
                  <a:srgbClr val="FFFFFF"/>
                </a:solidFill>
                <a:latin typeface="Segoe UI"/>
              </a:defRPr>
            </a:pPr>
            <a:r>
              <a:t>◆  Report &amp; share: Weekly diagnostic, calories, share text or report image.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CA3AF"/>
                </a:solidFill>
              </a:defRPr>
            </a:pPr>
            <a:r>
              <a:t>3 / 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F5FF"/>
                </a:solidFill>
                <a:latin typeface="Segoe UI"/>
              </a:defRPr>
            </a:pPr>
            <a:r>
              <a:t>FEATURES (2/2)</a:t>
            </a:r>
          </a:p>
          <a:p>
            <a:pPr algn="l">
              <a:spcAft>
                <a:spcPts val="1200"/>
              </a:spcAft>
              <a:defRPr sz="3000" b="1">
                <a:solidFill>
                  <a:srgbClr val="FFFFFF"/>
                </a:solidFill>
                <a:latin typeface="Segoe UI"/>
              </a:defRPr>
            </a:pPr>
            <a:r>
              <a:t>Health &amp; data</a:t>
            </a:r>
          </a:p>
          <a:p>
            <a:pPr algn="l">
              <a:lnSpc>
                <a:spcPct val="120000"/>
              </a:lnSpc>
              <a:spcAft>
                <a:spcPts val="800"/>
              </a:spcAft>
              <a:defRPr sz="1400" b="0">
                <a:solidFill>
                  <a:srgbClr val="FFFFFF"/>
                </a:solidFill>
                <a:latin typeface="Segoe UI"/>
              </a:defRPr>
            </a:pPr>
            <a:r>
              <a:t>◆  Profile &amp; lab: BMI, BMR, TDEE, body composition (Navy optional), progress calendar.</a:t>
            </a:r>
          </a:p>
          <a:p>
            <a:pPr algn="l">
              <a:lnSpc>
                <a:spcPct val="120000"/>
              </a:lnSpc>
              <a:spcAft>
                <a:spcPts val="800"/>
              </a:spcAft>
              <a:defRPr sz="1400" b="0">
                <a:solidFill>
                  <a:srgbClr val="FFFFFF"/>
                </a:solidFill>
                <a:latin typeface="Segoe UI"/>
              </a:defRPr>
            </a:pPr>
            <a:r>
              <a:t>◆  Fuel gauge: Meals with timestamps, balance vs target, calorie→weight estimate.</a:t>
            </a:r>
          </a:p>
          <a:p>
            <a:pPr algn="l">
              <a:lnSpc>
                <a:spcPct val="120000"/>
              </a:lnSpc>
              <a:spcAft>
                <a:spcPts val="800"/>
              </a:spcAft>
              <a:defRPr sz="1400" b="0">
                <a:solidFill>
                  <a:srgbClr val="FFFFFF"/>
                </a:solidFill>
                <a:latin typeface="Segoe UI"/>
              </a:defRPr>
            </a:pPr>
            <a:r>
              <a:t>◆  Your data: On-device storage, export JSON, PWA &amp; offline map tiles.</a:t>
            </a:r>
          </a:p>
          <a:p>
            <a:pPr algn="l">
              <a:lnSpc>
                <a:spcPct val="120000"/>
              </a:lnSpc>
              <a:spcAft>
                <a:spcPts val="800"/>
              </a:spcAft>
              <a:defRPr sz="1400" b="0">
                <a:solidFill>
                  <a:srgbClr val="FFFFFF"/>
                </a:solidFill>
                <a:latin typeface="Segoe UI"/>
              </a:defRPr>
            </a:pPr>
            <a:r>
              <a:t>◆  Accessibility: ARIA labels, keyboard nav, reduced-motion support.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CA3AF"/>
                </a:solidFill>
              </a:defRPr>
            </a:pPr>
            <a:r>
              <a:t>4 / 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con-5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0" y="914400"/>
            <a:ext cx="1371600" cy="1371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2606040"/>
            <a:ext cx="106984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F5FF"/>
                </a:solidFill>
                <a:latin typeface="Segoe UI"/>
              </a:defRPr>
            </a:pPr>
            <a:r>
              <a:t>INITIALIZE THE GRID</a:t>
            </a:r>
          </a:p>
          <a:p>
            <a:pPr algn="ctr">
              <a:spcAft>
                <a:spcPts val="1000"/>
              </a:spcAft>
              <a:defRPr sz="3600" b="1">
                <a:solidFill>
                  <a:srgbClr val="FFFFFF"/>
                </a:solidFill>
                <a:latin typeface="Segoe UI"/>
              </a:defRPr>
            </a:pPr>
            <a:r>
              <a:t>Thank you</a:t>
            </a:r>
          </a:p>
          <a:p>
            <a:pPr algn="ctr">
              <a:defRPr sz="1500" b="0">
                <a:solidFill>
                  <a:srgbClr val="9CA3AF"/>
                </a:solidFill>
                <a:latin typeface="Segoe UI"/>
              </a:defRPr>
            </a:pPr>
            <a:r>
              <a:t>Open Path-Pulse in the browser, accept the Oath, and start your first expedition. Serve over HTTPS or localhost for GPS.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CA3AF"/>
                </a:solidFill>
              </a:defRPr>
            </a:pPr>
            <a:r>
              <a:t>5 / 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